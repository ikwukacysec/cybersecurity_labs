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A4A155F-20EB-4422-B099-7ABCEAD28CB7}">
  <a:tblStyle styleId="{AA4A155F-20EB-4422-B099-7ABCEAD28CB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5BE65164-AD44-49A7-886D-DF52D5C5B72C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schemas.openxmlformats.org/officeDocument/2006/relationships/slide" Target="slides/slide16.xml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913670290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913670290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9136702902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913670290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9136702902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9136702902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9136702902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9136702902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9136702902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9136702902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9136702902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9136702902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9136702902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9136702902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9136702902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9136702902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9136702902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9136702902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9136702902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9136702902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9136702902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9136702902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9136702902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9136702902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9136702902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9136702902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9136702902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9136702902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9136702902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9136702902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www.draw.io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x.com/maaziikwuka" TargetMode="External"/><Relationship Id="rId4" Type="http://schemas.openxmlformats.org/officeDocument/2006/relationships/hyperlink" Target="mailto:ikwuka.cysec@gmail.com" TargetMode="External"/><Relationship Id="rId5" Type="http://schemas.openxmlformats.org/officeDocument/2006/relationships/hyperlink" Target="http://github.com/IkwukaCySec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452450"/>
            <a:ext cx="8520600" cy="1548000"/>
          </a:xfrm>
          <a:prstGeom prst="rect">
            <a:avLst/>
          </a:prstGeom>
        </p:spPr>
        <p:txBody>
          <a:bodyPr anchorCtr="0" anchor="b" bIns="91425" lIns="0" spcFirstLastPara="1" rIns="0" wrap="square" tIns="91425">
            <a:normAutofit/>
          </a:bodyPr>
          <a:lstStyle/>
          <a:p>
            <a:pPr indent="0" lvl="0" marL="0" rtl="0" algn="ctr">
              <a:lnSpc>
                <a:spcPct val="13636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300">
                <a:latin typeface="Times New Roman"/>
                <a:ea typeface="Times New Roman"/>
                <a:cs typeface="Times New Roman"/>
                <a:sym typeface="Times New Roman"/>
              </a:rPr>
              <a:t>TechCorp Enterprises – IAM Platform Implementation Roadmap</a:t>
            </a:r>
            <a:endParaRPr b="1"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214556"/>
            <a:ext cx="8520600" cy="280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636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Tata Consultancy Services | Cybersecurity Practice</a:t>
            </a:r>
            <a:endParaRPr b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3636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3636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by: </a:t>
            </a:r>
            <a:r>
              <a:rPr b="1"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Ikwuka Okoye</a:t>
            </a:r>
            <a:endParaRPr b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3636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3636"/>
              </a:lnSpc>
              <a:spcBef>
                <a:spcPts val="1400"/>
              </a:spcBef>
              <a:spcAft>
                <a:spcPts val="1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Date: 2nd December, 2025</a:t>
            </a:r>
            <a:endParaRPr b="1" sz="3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159275"/>
            <a:ext cx="8520600" cy="61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636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200">
                <a:latin typeface="Times New Roman"/>
                <a:ea typeface="Times New Roman"/>
                <a:cs typeface="Times New Roman"/>
                <a:sym typeface="Times New Roman"/>
              </a:rPr>
              <a:t>Digital Identity Pattern</a:t>
            </a:r>
            <a:endParaRPr b="1"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314425"/>
            <a:ext cx="8520600" cy="357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rPr lang="en" sz="1687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TechCorp Enterprises</a:t>
            </a:r>
            <a:endParaRPr sz="1687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0"/>
              </a:lnSpc>
              <a:spcBef>
                <a:spcPts val="1400"/>
              </a:spcBef>
              <a:spcAft>
                <a:spcPts val="0"/>
              </a:spcAft>
              <a:buSzPts val="688"/>
              <a:buNone/>
            </a:pPr>
            <a:br>
              <a:rPr lang="en" sz="1687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1687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Identity &amp; Access Management (IAM) Platform</a:t>
            </a:r>
            <a:endParaRPr sz="1687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0"/>
              </a:lnSpc>
              <a:spcBef>
                <a:spcPts val="1400"/>
              </a:spcBef>
              <a:spcAft>
                <a:spcPts val="0"/>
              </a:spcAft>
              <a:buSzPts val="688"/>
              <a:buNone/>
            </a:pPr>
            <a:br>
              <a:rPr lang="en" sz="1687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1687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Detailed Implementation Roadmap &amp; Integration Strategy</a:t>
            </a:r>
            <a:endParaRPr sz="1687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0"/>
              </a:lnSpc>
              <a:spcBef>
                <a:spcPts val="1400"/>
              </a:spcBef>
              <a:spcAft>
                <a:spcPts val="0"/>
              </a:spcAft>
              <a:buSzPts val="688"/>
              <a:buNone/>
            </a:pPr>
            <a:br>
              <a:rPr lang="en" sz="1687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" sz="1687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</a:t>
            </a:r>
            <a:r>
              <a:rPr lang="en" sz="1687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" sz="1687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</a:t>
            </a:r>
            <a:r>
              <a:rPr lang="en" sz="1687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TechCorp CISO &amp; IT Leadership</a:t>
            </a:r>
            <a:endParaRPr sz="1687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0"/>
              </a:lnSpc>
              <a:spcBef>
                <a:spcPts val="1400"/>
              </a:spcBef>
              <a:spcAft>
                <a:spcPts val="1400"/>
              </a:spcAft>
              <a:buSzPts val="688"/>
              <a:buNone/>
            </a:pPr>
            <a:br>
              <a:rPr lang="en" sz="1687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" sz="1687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</a:t>
            </a:r>
            <a:r>
              <a:rPr lang="en" sz="1687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" sz="1687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</a:t>
            </a:r>
            <a:r>
              <a:rPr lang="en" sz="1687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b="1" lang="en" sz="1687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Ikwuka Okoye</a:t>
            </a:r>
            <a:r>
              <a:rPr lang="en" sz="1687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IAM Consultant – TCS Virtual Experience Program</a:t>
            </a:r>
            <a:endParaRPr sz="12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Executive Summary</a:t>
            </a:r>
            <a:endParaRPr b="1"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438225"/>
            <a:ext cx="8520600" cy="370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3636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20-week, low-risk, phased rollout delivering: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100% automated user lifecycle management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Enterprise-wide Zero Trust access controls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Full compliance readiness (SOC 2, ISO 27001, GDPR, NIST CSF)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Expected ROI: 380% over 3 years through productivity gains and risk reduction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3636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Core Principle: </a:t>
            </a:r>
            <a:r>
              <a:rPr b="1" lang="en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Secure by Design, Automated by Default</a:t>
            </a:r>
            <a:endParaRPr b="1"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2307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3636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39919"/>
              <a:buFont typeface="Arial"/>
              <a:buNone/>
            </a:pPr>
            <a:r>
              <a:rPr b="1" lang="en" sz="2480">
                <a:latin typeface="Times New Roman"/>
                <a:ea typeface="Times New Roman"/>
                <a:cs typeface="Times New Roman"/>
                <a:sym typeface="Times New Roman"/>
              </a:rPr>
              <a:t>Chosen IAM Technology Stack (2025 Leaders)</a:t>
            </a:r>
            <a:endParaRPr b="1" sz="248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39285"/>
              <a:buNone/>
            </a:pPr>
            <a:r>
              <a:t/>
            </a:r>
            <a:endParaRPr sz="2520"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869150"/>
            <a:ext cx="8647200" cy="414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/>
              <a:t>Table:</a:t>
            </a:r>
            <a:endParaRPr b="1"/>
          </a:p>
        </p:txBody>
      </p:sp>
      <p:graphicFrame>
        <p:nvGraphicFramePr>
          <p:cNvPr id="74" name="Google Shape;74;p16"/>
          <p:cNvGraphicFramePr/>
          <p:nvPr/>
        </p:nvGraphicFramePr>
        <p:xfrm>
          <a:off x="461950" y="1514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{AA4A155F-20EB-4422-B099-7ABCEAD28CB7}</a:tableStyleId>
              </a:tblPr>
              <a:tblGrid>
                <a:gridCol w="2413000"/>
                <a:gridCol w="4139425"/>
                <a:gridCol w="1436650"/>
              </a:tblGrid>
              <a:tr h="629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Layer</a:t>
                      </a:r>
                      <a:endParaRPr b="1"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Selected Solution</a:t>
                      </a:r>
                      <a:endParaRPr b="1"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Gartner 2025 Solution</a:t>
                      </a:r>
                      <a:endParaRPr b="1"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601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636"/>
                        </a:lnSpc>
                        <a:spcBef>
                          <a:spcPts val="120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Identity Governance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636"/>
                        </a:lnSpc>
                        <a:spcBef>
                          <a:spcPts val="120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SailPoint IdentityNow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Leader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56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Access Management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7840"/>
                        </a:lnSpc>
                        <a:spcBef>
                          <a:spcPts val="120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Okta Workforce Identity Cloud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Leader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566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Privileged Access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636"/>
                        </a:lnSpc>
                        <a:spcBef>
                          <a:spcPts val="120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Saviynt Enterprise Identity Cloud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Leader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6205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636"/>
                        </a:lnSpc>
                        <a:spcBef>
                          <a:spcPts val="120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Zero Trust Enforcement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636"/>
                        </a:lnSpc>
                        <a:spcBef>
                          <a:spcPts val="120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Google BeyondCorp Enterprise + Prisma Access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Leader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5834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7840"/>
                        </a:lnSpc>
                        <a:spcBef>
                          <a:spcPts val="120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HRIS Source of Truth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636"/>
                        </a:lnSpc>
                        <a:spcBef>
                          <a:spcPts val="120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Workday (existing)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– 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180725" y="521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3636"/>
              </a:lnSpc>
              <a:spcBef>
                <a:spcPts val="1200"/>
              </a:spcBef>
              <a:spcAft>
                <a:spcPts val="700"/>
              </a:spcAft>
              <a:buNone/>
            </a:pPr>
            <a:r>
              <a:rPr b="1" lang="en" sz="2400">
                <a:latin typeface="Times New Roman"/>
                <a:ea typeface="Times New Roman"/>
                <a:cs typeface="Times New Roman"/>
                <a:sym typeface="Times New Roman"/>
              </a:rPr>
              <a:t>High-Level Implementation Timeline (Gantt-style)</a:t>
            </a:r>
            <a:endParaRPr b="1" sz="4000"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714375"/>
            <a:ext cx="8520600" cy="38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Phase 1: Discovery &amp; Design Weeks 1–4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Phase 2: Pilot (Engineering + Finance) Weeks 5–10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Phase 3: Enterprise Rollout Weeks 11–16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Phase 4: Optimization &amp; Handover Weeks 17–20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b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Go-Live Target: End of Week 16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1" name="Google Shape;8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6000" y="2667000"/>
            <a:ext cx="7422600" cy="2476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290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636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en" sz="2380">
                <a:latin typeface="Times New Roman"/>
                <a:ea typeface="Times New Roman"/>
                <a:cs typeface="Times New Roman"/>
                <a:sym typeface="Times New Roman"/>
              </a:rPr>
              <a:t>Phase 1: Discovery &amp; Design (Weeks 1–4)</a:t>
            </a:r>
            <a:endParaRPr b="1" sz="238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70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520"/>
          </a:p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311700" y="1152475"/>
            <a:ext cx="8520600" cy="378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3636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Activities &amp; Milestones</a:t>
            </a:r>
            <a:endParaRPr b="1"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Current-state workshops with 12 application owners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Identity data cleanup (duplicate/stale accounts)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Define 180+ birthright &amp; functional roles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Finalize integration architecture diagram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br>
              <a:rPr lang="en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Deliverables</a:t>
            </a:r>
            <a:r>
              <a:rPr lang="en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Detailed design document, integration matrix, risk register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240275" y="1473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636"/>
              </a:lnSpc>
              <a:spcBef>
                <a:spcPts val="1200"/>
              </a:spcBef>
              <a:spcAft>
                <a:spcPts val="700"/>
              </a:spcAft>
              <a:buNone/>
            </a:pPr>
            <a:r>
              <a:rPr b="1" lang="en" sz="2700">
                <a:latin typeface="Times New Roman"/>
                <a:ea typeface="Times New Roman"/>
                <a:cs typeface="Times New Roman"/>
                <a:sym typeface="Times New Roman"/>
              </a:rPr>
              <a:t>Phase 2: Pilot – Engineering &amp; Finance (Weeks 5–10)</a:t>
            </a:r>
            <a:endParaRPr b="1" sz="4300"/>
          </a:p>
        </p:txBody>
      </p:sp>
      <p:sp>
        <p:nvSpPr>
          <p:cNvPr id="93" name="Google Shape;93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Times New Roman"/>
                <a:ea typeface="Times New Roman"/>
                <a:cs typeface="Times New Roman"/>
                <a:sym typeface="Times New Roman"/>
              </a:rPr>
              <a:t>Scope: 2,500 users, 18 critical applications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>
                <a:latin typeface="Times New Roman"/>
                <a:ea typeface="Times New Roman"/>
                <a:cs typeface="Times New Roman"/>
                <a:sym typeface="Times New Roman"/>
              </a:rPr>
              <a:t>Success Criteria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 sz="2500">
                <a:latin typeface="Times New Roman"/>
                <a:ea typeface="Times New Roman"/>
                <a:cs typeface="Times New Roman"/>
                <a:sym typeface="Times New Roman"/>
              </a:rPr>
              <a:t>95% automated joiner-mover-leaver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 sz="2500">
                <a:latin typeface="Times New Roman"/>
                <a:ea typeface="Times New Roman"/>
                <a:cs typeface="Times New Roman"/>
                <a:sym typeface="Times New Roman"/>
              </a:rPr>
              <a:t>Zero manual tickets for pilot apps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 sz="2500">
                <a:latin typeface="Times New Roman"/>
                <a:ea typeface="Times New Roman"/>
                <a:cs typeface="Times New Roman"/>
                <a:sym typeface="Times New Roman"/>
              </a:rPr>
              <a:t>Phishing-resistant MFA for all privileged accounts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 sz="2500">
                <a:latin typeface="Times New Roman"/>
                <a:ea typeface="Times New Roman"/>
                <a:cs typeface="Times New Roman"/>
                <a:sym typeface="Times New Roman"/>
              </a:rPr>
              <a:t>User satisfaction NPS &gt; 8.0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500"/>
              </a:spcBef>
              <a:spcAft>
                <a:spcPts val="1200"/>
              </a:spcAft>
              <a:buNone/>
            </a:pPr>
            <a:r>
              <a:t/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 txBox="1"/>
          <p:nvPr>
            <p:ph type="title"/>
          </p:nvPr>
        </p:nvSpPr>
        <p:spPr>
          <a:xfrm>
            <a:off x="252175" y="2545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700"/>
              </a:spcBef>
              <a:spcAft>
                <a:spcPts val="600"/>
              </a:spcAft>
              <a:buNone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Phase 3: Enterprise Rollout (Weeks 11–16)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" name="Google Shape;99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Wave-based approach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Wave 1: All internal employees (Weeks 11–12)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Wave 2: Contractors &amp; partners (Weeks 13–14)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Wave 3: Customer-facing &amp; legacy apps (Weeks 15–16)</a:t>
            </a:r>
            <a:b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Daily stand-ups + weekly steering committee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500"/>
              </a:spcBef>
              <a:spcAft>
                <a:spcPts val="1200"/>
              </a:spcAft>
              <a:buNone/>
            </a:pPr>
            <a:r>
              <a:t/>
            </a:r>
            <a:endParaRPr sz="3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 txBox="1"/>
          <p:nvPr>
            <p:ph type="title"/>
          </p:nvPr>
        </p:nvSpPr>
        <p:spPr>
          <a:xfrm>
            <a:off x="311700" y="830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en" sz="2520">
                <a:latin typeface="Times New Roman"/>
                <a:ea typeface="Times New Roman"/>
                <a:cs typeface="Times New Roman"/>
                <a:sym typeface="Times New Roman"/>
              </a:rPr>
              <a:t>Critical Integration Challenges &amp; Mitigation</a:t>
            </a:r>
            <a:endParaRPr b="1" sz="25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520"/>
          </a:p>
        </p:txBody>
      </p:sp>
      <p:sp>
        <p:nvSpPr>
          <p:cNvPr id="105" name="Google Shape;105;p21"/>
          <p:cNvSpPr txBox="1"/>
          <p:nvPr>
            <p:ph idx="1" type="body"/>
          </p:nvPr>
        </p:nvSpPr>
        <p:spPr>
          <a:xfrm>
            <a:off x="311700" y="655775"/>
            <a:ext cx="8520600" cy="44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/>
              <a:t>Table:</a:t>
            </a:r>
            <a:endParaRPr b="1"/>
          </a:p>
        </p:txBody>
      </p:sp>
      <p:graphicFrame>
        <p:nvGraphicFramePr>
          <p:cNvPr id="106" name="Google Shape;106;p21"/>
          <p:cNvGraphicFramePr/>
          <p:nvPr/>
        </p:nvGraphicFramePr>
        <p:xfrm>
          <a:off x="311700" y="1134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{AA4A155F-20EB-4422-B099-7ABCEAD28CB7}</a:tableStyleId>
              </a:tblPr>
              <a:tblGrid>
                <a:gridCol w="2990300"/>
                <a:gridCol w="1454150"/>
                <a:gridCol w="4159250"/>
              </a:tblGrid>
              <a:tr h="643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Challenge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Risk Level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Mitigation Strategy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974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Legacy HR system (on-prem)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High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Custom SCIM connector + nightly sync with reconciliation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73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15+ homegrown apps (no APIs)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High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Reverse-proxy authentication via Okta + header injection (PAM fallback)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1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Mainframe applications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Medium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Host-based agent + RACF connector for SailPoint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601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Cloud SaaS sprawl (1,200+ apps)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Medium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Okta + Seamless federated SSO; auto-discovery via Cloud Access Security Broker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20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Data sovereignty (APAC entities)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High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Multi-region deployment (SailPoint APAC pods) + geo-fencing policies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type="title"/>
          </p:nvPr>
        </p:nvSpPr>
        <p:spPr>
          <a:xfrm>
            <a:off x="311700" y="55950"/>
            <a:ext cx="8520600" cy="43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1810">
                <a:latin typeface="Times New Roman"/>
                <a:ea typeface="Times New Roman"/>
                <a:cs typeface="Times New Roman"/>
                <a:sym typeface="Times New Roman"/>
              </a:rPr>
              <a:t>TechCorp Target-State IAM Architecture – Secure, Automated, Zero-Trust</a:t>
            </a:r>
            <a:endParaRPr sz="334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2" name="Google Shape;112;p22"/>
          <p:cNvSpPr txBox="1"/>
          <p:nvPr>
            <p:ph idx="1" type="body"/>
          </p:nvPr>
        </p:nvSpPr>
        <p:spPr>
          <a:xfrm>
            <a:off x="311700" y="495450"/>
            <a:ext cx="8520600" cy="461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/>
              <a:t>Architecture Diagram</a:t>
            </a:r>
            <a:endParaRPr b="1"/>
          </a:p>
        </p:txBody>
      </p:sp>
      <p:pic>
        <p:nvPicPr>
          <p:cNvPr id="113" name="Google Shape;113;p22" title="TechCorp_Enterprises–Target-State_IAM_Architecture_(2026).draw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36850" y="726275"/>
            <a:ext cx="3470300" cy="4310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3"/>
          <p:cNvSpPr txBox="1"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TechCorp Target State IAM Architecture</a:t>
            </a:r>
            <a:endParaRPr b="1"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Shown: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Workday → SailPoint → Okta → Applications (cloud + on-prem)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Google BeyondCorp context-aware access overlay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Real-time risk feed from CrowdStrike → Saviynt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Continuous compliance reporting dashboard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Attached below is a Google Drive link to the TechCorp Architecture diagram, created with </a:t>
            </a:r>
            <a:r>
              <a:rPr lang="en" sz="21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Draw.io</a:t>
            </a: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3" name="Google Shape;123;p24"/>
          <p:cNvGraphicFramePr/>
          <p:nvPr/>
        </p:nvGraphicFramePr>
        <p:xfrm>
          <a:off x="251863" y="1740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{5BE65164-AD44-49A7-886D-DF52D5C5B72C}</a:tableStyleId>
              </a:tblPr>
              <a:tblGrid>
                <a:gridCol w="4351050"/>
                <a:gridCol w="844875"/>
                <a:gridCol w="2101950"/>
                <a:gridCol w="1417100"/>
              </a:tblGrid>
              <a:tr h="6129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Resource Requirements</a:t>
                      </a:r>
                      <a:endParaRPr b="1"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6129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/>
                        <a:t>Role</a:t>
                      </a:r>
                      <a:endParaRPr b="1"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/>
                        <a:t>Qty</a:t>
                      </a:r>
                      <a:endParaRPr b="1"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/>
                        <a:t>Duration</a:t>
                      </a:r>
                      <a:endParaRPr b="1"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/>
                        <a:t>Source</a:t>
                      </a:r>
                      <a:endParaRPr b="1" sz="1300"/>
                    </a:p>
                  </a:txBody>
                  <a:tcPr marT="91425" marB="91425" marR="91425" marL="91425"/>
                </a:tc>
              </a:tr>
              <a:tr h="7138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TCS IAM Architect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Full 20 weeks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TCS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7138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TechCorp Identity SME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Full-time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Internal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7138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Application Owners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4–8 hrs/week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Internal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7138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Security &amp; Compliance Team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Part-time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Internal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6578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Okta/SailPoint Vendor SEs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As needed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Vendor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5"/>
          <p:cNvSpPr txBox="1"/>
          <p:nvPr>
            <p:ph type="title"/>
          </p:nvPr>
        </p:nvSpPr>
        <p:spPr>
          <a:xfrm>
            <a:off x="311700" y="1088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en" sz="2620">
                <a:latin typeface="Times New Roman"/>
                <a:ea typeface="Times New Roman"/>
                <a:cs typeface="Times New Roman"/>
                <a:sym typeface="Times New Roman"/>
              </a:rPr>
              <a:t>Alignment with TechCorp Strategic Goals</a:t>
            </a:r>
            <a:endParaRPr b="1" sz="26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520"/>
          </a:p>
        </p:txBody>
      </p:sp>
      <p:sp>
        <p:nvSpPr>
          <p:cNvPr id="129" name="Google Shape;129;p25"/>
          <p:cNvSpPr txBox="1"/>
          <p:nvPr>
            <p:ph idx="1" type="body"/>
          </p:nvPr>
        </p:nvSpPr>
        <p:spPr>
          <a:xfrm>
            <a:off x="311700" y="681550"/>
            <a:ext cx="8520600" cy="388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/>
              <a:t>Table</a:t>
            </a:r>
            <a:r>
              <a:rPr b="1" lang="en"/>
              <a:t>:</a:t>
            </a:r>
            <a:endParaRPr b="1"/>
          </a:p>
        </p:txBody>
      </p:sp>
      <p:graphicFrame>
        <p:nvGraphicFramePr>
          <p:cNvPr id="130" name="Google Shape;130;p25"/>
          <p:cNvGraphicFramePr/>
          <p:nvPr/>
        </p:nvGraphicFramePr>
        <p:xfrm>
          <a:off x="345500" y="1185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{AA4A155F-20EB-4422-B099-7ABCEAD28CB7}</a:tableStyleId>
              </a:tblPr>
              <a:tblGrid>
                <a:gridCol w="3852975"/>
                <a:gridCol w="4600025"/>
              </a:tblGrid>
              <a:tr h="618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Business Goals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How IAM Delivers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594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Zero major breaches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Phishing-resistant MFA + continuous session risk monitoring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94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30% faster time-to-productivity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New hires fully provisioned in &lt;4 hours (vs current 5 days)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94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Seamless hybrid work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Location-agnostic Zero Trust access – no VPN required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94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M&amp;A readiness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Rapid identity ingestion framework already built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94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Cost reduction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72% fewer access-related helpdesk tickets (industry benchmark)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6"/>
          <p:cNvSpPr txBox="1"/>
          <p:nvPr>
            <p:ph type="title"/>
          </p:nvPr>
        </p:nvSpPr>
        <p:spPr>
          <a:xfrm>
            <a:off x="218325" y="1275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520">
                <a:latin typeface="Times New Roman"/>
                <a:ea typeface="Times New Roman"/>
                <a:cs typeface="Times New Roman"/>
                <a:sym typeface="Times New Roman"/>
              </a:rPr>
              <a:t>Success Metrics Dashboard</a:t>
            </a:r>
            <a:endParaRPr b="1" sz="25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6" name="Google Shape;136;p26"/>
          <p:cNvSpPr txBox="1"/>
          <p:nvPr>
            <p:ph idx="1" type="body"/>
          </p:nvPr>
        </p:nvSpPr>
        <p:spPr>
          <a:xfrm>
            <a:off x="311700" y="700225"/>
            <a:ext cx="8520600" cy="386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>
                <a:latin typeface="Times New Roman"/>
                <a:ea typeface="Times New Roman"/>
                <a:cs typeface="Times New Roman"/>
                <a:sym typeface="Times New Roman"/>
              </a:rPr>
              <a:t>Key Performance Indicator (KPI) Cards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 sz="2500">
                <a:latin typeface="Times New Roman"/>
                <a:ea typeface="Times New Roman"/>
                <a:cs typeface="Times New Roman"/>
                <a:sym typeface="Times New Roman"/>
              </a:rPr>
              <a:t>Automated Provisioning Rate: 98%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 sz="2500">
                <a:latin typeface="Times New Roman"/>
                <a:ea typeface="Times New Roman"/>
                <a:cs typeface="Times New Roman"/>
                <a:sym typeface="Times New Roman"/>
              </a:rPr>
              <a:t>MFA Adoption (Phishing-Resistant): 100% privileged, 92% workforce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 sz="2500">
                <a:latin typeface="Times New Roman"/>
                <a:ea typeface="Times New Roman"/>
                <a:cs typeface="Times New Roman"/>
                <a:sym typeface="Times New Roman"/>
              </a:rPr>
              <a:t>Mean Time to Grant Access: 3.2 minutes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 sz="2500">
                <a:latin typeface="Times New Roman"/>
                <a:ea typeface="Times New Roman"/>
                <a:cs typeface="Times New Roman"/>
                <a:sym typeface="Times New Roman"/>
              </a:rPr>
              <a:t>Access Review Completion: 100% quarterly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 sz="2500">
                <a:latin typeface="Times New Roman"/>
                <a:ea typeface="Times New Roman"/>
                <a:cs typeface="Times New Roman"/>
                <a:sym typeface="Times New Roman"/>
              </a:rPr>
              <a:t>Incidents Caused by Access Issues: 0 (post go-live)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7"/>
          <p:cNvSpPr txBox="1"/>
          <p:nvPr>
            <p:ph type="title"/>
          </p:nvPr>
        </p:nvSpPr>
        <p:spPr>
          <a:xfrm>
            <a:off x="311700" y="90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Next Steps and Recommendation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2" name="Google Shape;142;p27"/>
          <p:cNvSpPr txBox="1"/>
          <p:nvPr>
            <p:ph idx="1" type="body"/>
          </p:nvPr>
        </p:nvSpPr>
        <p:spPr>
          <a:xfrm>
            <a:off x="311700" y="662875"/>
            <a:ext cx="8520600" cy="390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Immediate Actions</a:t>
            </a:r>
            <a:endParaRPr sz="2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 New Roman"/>
              <a:buAutoNum type="arabicPeriod"/>
            </a:pPr>
            <a:r>
              <a:rPr lang="en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Approve Phase 1 kickoff (Week 1)</a:t>
            </a:r>
            <a:endParaRPr sz="2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 New Roman"/>
              <a:buAutoNum type="arabicPeriod"/>
            </a:pPr>
            <a:r>
              <a:rPr lang="en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Assign TechCorp IAM co-lead</a:t>
            </a:r>
            <a:endParaRPr sz="2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 New Roman"/>
              <a:buAutoNum type="arabicPeriod"/>
            </a:pPr>
            <a:r>
              <a:rPr lang="en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Schedule vendor workshops (SailPoint &amp; Okta)</a:t>
            </a:r>
            <a:endParaRPr sz="2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Recommendation: </a:t>
            </a:r>
            <a:r>
              <a:rPr b="1" lang="en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Green-light the 20-week implementation plan</a:t>
            </a:r>
            <a:r>
              <a:rPr lang="en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proven, low-risk, and directly accelerates TechCorp’s position as a secure, agile technology leader.</a:t>
            </a:r>
            <a:endParaRPr sz="2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8"/>
          <p:cNvSpPr txBox="1"/>
          <p:nvPr>
            <p:ph type="title"/>
          </p:nvPr>
        </p:nvSpPr>
        <p:spPr>
          <a:xfrm>
            <a:off x="311700" y="202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820"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 b="1" sz="28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8" name="Google Shape;148;p28"/>
          <p:cNvSpPr txBox="1"/>
          <p:nvPr>
            <p:ph idx="1" type="body"/>
          </p:nvPr>
        </p:nvSpPr>
        <p:spPr>
          <a:xfrm>
            <a:off x="311700" y="1040400"/>
            <a:ext cx="8520600" cy="398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Questions?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Ikwuka Okoye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Cybersecurity IAM Consultant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Tata Consultancy Services – Virtual Experience Program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X (formerly Twitter)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https://x.com/maaziikwuka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| </a:t>
            </a: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Email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/>
              </a:rPr>
              <a:t>ikwuka.cysec@gmail.com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GitHub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5"/>
              </a:rPr>
              <a:t>https:github.com/IkwukaCySec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